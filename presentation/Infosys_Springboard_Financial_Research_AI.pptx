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1E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  <a:p>
            <a:pPr>
              <a:spcAft>
                <a:spcPts val="1400"/>
              </a:spcAft>
              <a:defRPr sz="3200" b="1">
                <a:solidFill>
                  <a:srgbClr val="0F2240"/>
                </a:solidFill>
              </a:defRPr>
            </a:pPr>
            <a:r>
              <a:t>Multi-Agent AI Analysis System for</a:t>
            </a:r>
            <a:br/>
            <a:r>
              <a:t>Financial Research and Business Insights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An evidence-grounded agentic platform for corporate annual report analysis and competitor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11480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INTERN / DEVELOPER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[Your Name / Intern ID]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Infosys Springboard Virtual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11480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PROJECT DOMAIN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Agentic AI &amp; Financial Analytics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Document Extraction, RAG &amp; Risk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114800"/>
            <a:ext cx="32004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MENTORSHIP &amp; DATES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[Mentor Name / Infosys Mentor]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Academic / Internship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5AA0"/>
                </a:solidFill>
              </a:defRPr>
            </a:pPr>
            <a:r>
              <a:t>THE PROBLEM IN CORPORATE RESEARCH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Information Overload:</a:t>
            </a:r>
            <a:r>
              <a:rPr sz="1300">
                <a:solidFill>
                  <a:srgbClr val="1E293B"/>
                </a:solidFill>
              </a:rPr>
              <a:t> Corporate annual reports and Form 10-K filings often exceed 300-500 pages, making manual analysis slow and error-prone.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Hallucination Risks in Generic LLMs:</a:t>
            </a:r>
            <a:r>
              <a:rPr sz="1300">
                <a:solidFill>
                  <a:srgbClr val="1E293B"/>
                </a:solidFill>
              </a:rPr>
              <a:t> Traditional AI chatbots invent figures, misread OCR digits, and cannot be trusted for financial decision-making.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Reporting Basis Confusion:</a:t>
            </a:r>
            <a:r>
              <a:rPr sz="1300">
                <a:solidFill>
                  <a:srgbClr val="1E293B"/>
                </a:solidFill>
              </a:rPr>
              <a:t> Standard tools frequently mix consolidated (group-level) and standalone (parent-only) figures without audit trails.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Absence of Traceability:</a:t>
            </a:r>
            <a:r>
              <a:rPr sz="1300">
                <a:solidFill>
                  <a:srgbClr val="1E293B"/>
                </a:solidFill>
              </a:rPr>
              <a:t> Analysts require verifiable citations (page numbers, chunk text) before accepting any extracted metric.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5AA0"/>
                </a:solidFill>
              </a:defRPr>
            </a:pPr>
            <a:r>
              <a:t>PRIMARY PROJECT OBJECTIVES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Automate Financial Ingestion:</a:t>
            </a:r>
            <a:r>
              <a:rPr sz="1300">
                <a:solidFill>
                  <a:srgbClr val="1E293B"/>
                </a:solidFill>
              </a:rPr>
              <a:t> Ingest corporate PDF filings, extract high-fidelity text with PyMuPDF, and index segments in ChromaDB.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Deterministic Metric Extraction:</a:t>
            </a:r>
            <a:r>
              <a:rPr sz="1300">
                <a:solidFill>
                  <a:srgbClr val="1E293B"/>
                </a:solidFill>
              </a:rPr>
              <a:t> Reliably capture Revenue from Operations and Net Profit across reported financial years.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Strict Document Isolation &amp; Grounding:</a:t>
            </a:r>
            <a:r>
              <a:rPr sz="1300">
                <a:solidFill>
                  <a:srgbClr val="1E293B"/>
                </a:solidFill>
              </a:rPr>
              <a:t> Answer questions using verifiable RAG where 100% of claims cite exact PDF page numbers and chunk IDs.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Automated Financial Red-Flag Detection:</a:t>
            </a:r>
            <a:r>
              <a:rPr sz="1300">
                <a:solidFill>
                  <a:srgbClr val="1E293B"/>
                </a:solidFill>
              </a:rPr>
              <a:t> Flag year-over-year revenue contractions with deterministic severity levels (&lt;20% vs &gt;=20%).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240"/>
                </a:solidFill>
              </a:rPr>
              <a:t>• Cross-Company Benchmarking:</a:t>
            </a:r>
            <a:r>
              <a:rPr sz="1300">
                <a:solidFill>
                  <a:srgbClr val="1E293B"/>
                </a:solidFill>
              </a:rPr>
              <a:t> Align metrics across companies (e.g. Reliance vs. Infosys vs. TCS) and calculate absolute and percentage variances.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System Architecture &amp;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6459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1463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5AA0"/>
                </a:solidFill>
              </a:defRPr>
            </a:pPr>
            <a:r>
              <a:t>1. INGESTION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PDF Upload</a:t>
            </a:r>
            <a:br/>
            <a:r>
              <a:t>PyMuPDF (fitz)</a:t>
            </a:r>
            <a:br/>
            <a:r>
              <a:t>Text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737360"/>
            <a:ext cx="16459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874520"/>
            <a:ext cx="1463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5AA0"/>
                </a:solidFill>
              </a:defRPr>
            </a:pPr>
            <a:r>
              <a:t>2. CHUNKING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Overlapping Segments</a:t>
            </a:r>
            <a:br/>
            <a:r>
              <a:t>500-char Chunks</a:t>
            </a:r>
            <a:br/>
            <a:r>
              <a:t>Page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16459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1874520"/>
            <a:ext cx="1463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5AA0"/>
                </a:solidFill>
              </a:defRPr>
            </a:pPr>
            <a:r>
              <a:t>3. EMBEDDING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all-MiniLM-L6-v2</a:t>
            </a:r>
            <a:br/>
            <a:r>
              <a:t>384-dim Vectors</a:t>
            </a:r>
            <a:br/>
            <a:r>
              <a:t>ChromaDB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737360"/>
            <a:ext cx="16459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874520"/>
            <a:ext cx="1463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5AA0"/>
                </a:solidFill>
              </a:defRPr>
            </a:pPr>
            <a:r>
              <a:t>4. EXTRACTION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P&amp;L Statement Rules</a:t>
            </a:r>
            <a:br/>
            <a:r>
              <a:t>Revenue &amp; Profit</a:t>
            </a:r>
            <a:br/>
            <a:r>
              <a:t>Consolidated/Standalone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737360"/>
            <a:ext cx="1645920" cy="192024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874520"/>
            <a:ext cx="1463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5. AGENT LAYER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Research Agent</a:t>
            </a:r>
            <a:br/>
            <a:r>
              <a:t>Red Flag Agent</a:t>
            </a:r>
            <a:br/>
            <a:r>
              <a:t>Comparison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737360"/>
            <a:ext cx="16459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74520"/>
            <a:ext cx="1463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5AA0"/>
                </a:solidFill>
              </a:defRPr>
            </a:pPr>
            <a:r>
              <a:t>6. SYNTHESIS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Executive Summary</a:t>
            </a:r>
            <a:br/>
            <a:r>
              <a:t>Key Financials</a:t>
            </a:r>
            <a:br/>
            <a:r>
              <a:t>Streamlit UI &amp;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5AA0"/>
                </a:solidFill>
              </a:defRPr>
            </a:pPr>
            <a:r>
              <a:t>DATA STORAGE &amp; RETRIEVAL LAYER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SQLite (SQLAlchemy): Stores session state and document records.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ChromaDB Vector Store: Stores document chunks with metadata filtering (`document_id`, `page_number`).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Deterministic Query Routing: Filters by document ID to strictly prevent cross-company data leakage.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5AA0"/>
                </a:solidFill>
              </a:defRPr>
            </a:pPr>
            <a:r>
              <a:t>DETERMINISTIC PROCESSING LAYER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Python Arithmetic: All percentages and variances are calculated mathematically, avoiding generative LLM arithmetic errors.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Verified P&amp;L Anchoring: Net profit extraction reuses verified P&amp;L pages identified during revenue statement parsing.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Traceability: Every finding preserves PDF page numbers and source excerpts.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Multi-Agent System: Specialized Roles &amp; 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DOCUMENT AGENT</a:t>
            </a:r>
          </a:p>
          <a:p>
            <a:pPr>
              <a:spcAft>
                <a:spcPts val="400"/>
              </a:spcAft>
              <a:defRPr sz="1000" b="1">
                <a:solidFill>
                  <a:srgbClr val="1E5AA0"/>
                </a:solidFill>
              </a:defRPr>
            </a:pPr>
            <a:r>
              <a:t>Parsing &amp; Vector Indexing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Extracts raw text page-by-page from PDFs using PyMuPDF, chunks content into overlapping segments, generates embeddings with all-MiniLM-L6-v2, and indexes vectors into ChromaDB.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Module: services/parser.py, chunker.py, embedder.py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EXTRACTION AGENT</a:t>
            </a:r>
          </a:p>
          <a:p>
            <a:pPr>
              <a:spcAft>
                <a:spcPts val="400"/>
              </a:spcAft>
              <a:defRPr sz="1000" b="1">
                <a:solidFill>
                  <a:srgbClr val="1E5AA0"/>
                </a:solidFill>
              </a:defRPr>
            </a:pPr>
            <a:r>
              <a:t>Financial Table Parsing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Identifies formal P&amp;L statement pages, extracts Revenue from Operations across reporting periods, captures currency units (crores/lakhs), and handles OCR character replacements.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Module: agents/extraction_agent.py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RED FLAG AGENT</a:t>
            </a:r>
          </a:p>
          <a:p>
            <a:pPr>
              <a:spcAft>
                <a:spcPts val="400"/>
              </a:spcAft>
              <a:defRPr sz="1000" b="1">
                <a:solidFill>
                  <a:srgbClr val="1E5AA0"/>
                </a:solidFill>
              </a:defRPr>
            </a:pPr>
            <a:r>
              <a:t>Automated Risk Detection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Evaluates year-over-year revenue trends. Detects revenue contractions and assigns deterministic severity ratings (Medium: &lt;20% decline, High: &gt;=20% decline) with source citations.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Module: agents/red_flag_agent.py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RESEARCH AGENT</a:t>
            </a:r>
          </a:p>
          <a:p>
            <a:pPr>
              <a:spcAft>
                <a:spcPts val="400"/>
              </a:spcAft>
              <a:defRPr sz="1000" b="1">
                <a:solidFill>
                  <a:srgbClr val="1E5AA0"/>
                </a:solidFill>
              </a:defRPr>
            </a:pPr>
            <a:r>
              <a:t>Cited Financial Q&amp;A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Processes natural language financial inquiries, executes isolated ChromaDB vector retrieval, synthesizes verified answers, and attaches exact page numbers and chunk excerpts.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Module: agents/research_agent.py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51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COMPARISON AGENT</a:t>
            </a:r>
          </a:p>
          <a:p>
            <a:pPr>
              <a:spcAft>
                <a:spcPts val="400"/>
              </a:spcAft>
              <a:defRPr sz="1000" b="1">
                <a:solidFill>
                  <a:srgbClr val="1E5AA0"/>
                </a:solidFill>
              </a:defRPr>
            </a:pPr>
            <a:r>
              <a:t>Cross-Company Benchmarking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Aligns equivalent metrics across two or more corporate reports, enforces unit/reporting basis compatibility, and computes absolute, signed, and percentage differences.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Module: agents/comparison_agent.py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251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REPORT AGENT</a:t>
            </a:r>
          </a:p>
          <a:p>
            <a:pPr>
              <a:spcAft>
                <a:spcPts val="400"/>
              </a:spcAft>
              <a:defRPr sz="1000" b="1">
                <a:solidFill>
                  <a:srgbClr val="1E5AA0"/>
                </a:solidFill>
              </a:defRPr>
            </a:pPr>
            <a:r>
              <a:t>Executive Report Synthesis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Orchestrates outputs from Extraction, Red Flag, and Comparison agents to compile an initial financial report featuring an Executive Summary and Key Financials table.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Module: agents/report_agent.py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Technology Stack &amp; Technical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5AA0"/>
                </a:solidFill>
              </a:defRPr>
            </a:pPr>
            <a:r>
              <a:t>BACKEND ARCHITECTURE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Python 3.12:</a:t>
            </a:r>
            <a:r>
              <a:rPr sz="1100">
                <a:solidFill>
                  <a:srgbClr val="1E293B"/>
                </a:solidFill>
              </a:rPr>
              <a:t>  Chosen for modern type annotations, high-speed execution, and AI library compatibility.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FastAPI &amp; Uvicorn:</a:t>
            </a:r>
            <a:r>
              <a:rPr sz="1100">
                <a:solidFill>
                  <a:srgbClr val="1E293B"/>
                </a:solidFill>
              </a:rPr>
              <a:t>  High-performance asynchronous REST API framework with native Pydantic validation and auto-generated Swagger UI.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SQLite &amp; SQLAlchemy:</a:t>
            </a:r>
            <a:r>
              <a:rPr sz="1100">
                <a:solidFill>
                  <a:srgbClr val="1E293B"/>
                </a:solidFill>
              </a:rPr>
              <a:t>  Zero-configuration relational database managing research sessions and uploaded document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5AA0"/>
                </a:solidFill>
              </a:defRPr>
            </a:pPr>
            <a:r>
              <a:t>VECTOR RETRIEVAL &amp; PARSING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PyMuPDF (fitz):</a:t>
            </a:r>
            <a:r>
              <a:rPr sz="1100">
                <a:solidFill>
                  <a:srgbClr val="1E293B"/>
                </a:solidFill>
              </a:rPr>
              <a:t>  High-speed PDF text parsing that preserves layout coordinates and exact page boundaries.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ChromaDB:</a:t>
            </a:r>
            <a:r>
              <a:rPr sz="1100">
                <a:solidFill>
                  <a:srgbClr val="1E293B"/>
                </a:solidFill>
              </a:rPr>
              <a:t>  Open-source, local vector database supporting metadata filtering (`document_id`, `page_number`).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SentenceTransformers (all-MiniLM-L6-v2):</a:t>
            </a:r>
            <a:r>
              <a:rPr sz="1100">
                <a:solidFill>
                  <a:srgbClr val="1E293B"/>
                </a:solidFill>
              </a:rPr>
              <a:t>  Fast, lightweight (80MB) local embedding model generating 384-dimensional dense vectors on CPU with zero API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5AA0"/>
                </a:solidFill>
              </a:defRPr>
            </a:pPr>
            <a:r>
              <a:t>FRONTEND &amp; TESTING SUITE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Streamlit:</a:t>
            </a:r>
            <a:r>
              <a:rPr sz="1100">
                <a:solidFill>
                  <a:srgbClr val="1E293B"/>
                </a:solidFill>
              </a:rPr>
              <a:t>  Modern data application interface providing interactive chat, comparative tables, and file uploaders.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Requests Client:</a:t>
            </a:r>
            <a:r>
              <a:rPr sz="1100">
                <a:solidFill>
                  <a:srgbClr val="1E293B"/>
                </a:solidFill>
              </a:rPr>
              <a:t>  Decoupled communication layer (`api_client.py`) connecting Streamlit to the frozen FastAPI backend.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2240"/>
                </a:solidFill>
              </a:rPr>
              <a:t>• Python unittest:</a:t>
            </a:r>
            <a:r>
              <a:rPr sz="1100">
                <a:solidFill>
                  <a:srgbClr val="1E293B"/>
                </a:solidFill>
              </a:rPr>
              <a:t>  Rigorous test suite comprising 60 automated unit and integration tests (100% passing).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Implementation Results: Validated Financial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3152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CASE STUDY DATASET: Reliance Industries Limited (Integrated Annual Report 2024-25)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Validated across Conversational Research, Red Flag Detection, and Executive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1. CONSOLIDATED REVENUE</a:t>
            </a:r>
          </a:p>
          <a:p>
            <a:pPr>
              <a:spcAft>
                <a:spcPts val="200"/>
              </a:spcAft>
              <a:defRPr sz="2200" b="1">
                <a:solidFill>
                  <a:srgbClr val="0F2240"/>
                </a:solidFill>
              </a:defRPr>
            </a:pPr>
            <a:r>
              <a:t>Rs. 980,136 Cr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FY 2024-25 vs Rs. 914,472 Cr in FY 2023-24</a:t>
            </a:r>
            <a:br/>
            <a:r>
              <a:t>Growth: +7.18% (Calculated via Python)</a:t>
            </a:r>
          </a:p>
          <a:p>
            <a:pPr>
              <a:defRPr sz="1000" b="1">
                <a:solidFill>
                  <a:srgbClr val="0F2240"/>
                </a:solidFill>
              </a:defRPr>
            </a:pPr>
            <a:r>
              <a:t>Verified Citation: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Document: Reliance Annual Report 24-25</a:t>
            </a:r>
            <a:br/>
            <a:r>
              <a:t>• Page: 100 (Consolidated Statement)</a:t>
            </a:r>
            <a:br/>
            <a:r>
              <a:t>• Chunk: ..._p100_c866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2. RED FLAG DETECTION</a:t>
            </a:r>
          </a:p>
          <a:p>
            <a:pPr>
              <a:spcAft>
                <a:spcPts val="200"/>
              </a:spcAft>
              <a:defRPr sz="2200" b="1">
                <a:solidFill>
                  <a:srgbClr val="BE3C28"/>
                </a:solidFill>
              </a:defRPr>
            </a:pPr>
            <a:r>
              <a:t>RF001: Medium Risk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Standalone Revenue: Rs. 532,792 Cr (FY25)</a:t>
            </a:r>
            <a:br/>
            <a:r>
              <a:t>vs Rs. 547,942 Cr (FY24)</a:t>
            </a:r>
            <a:br/>
            <a:r>
              <a:t>Decline: -2.76% (Triggered warning)</a:t>
            </a:r>
          </a:p>
          <a:p>
            <a:pPr>
              <a:defRPr sz="1000" b="1">
                <a:solidFill>
                  <a:srgbClr val="0F2240"/>
                </a:solidFill>
              </a:defRPr>
            </a:pPr>
            <a:r>
              <a:t>Verified Citation: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Document: Reliance Annual Report 24-25</a:t>
            </a:r>
            <a:br/>
            <a:r>
              <a:t>• Page: 58 (Standalone Statement)</a:t>
            </a:r>
            <a:br/>
            <a:r>
              <a:t>• Chunk: ..._p58_c546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60320"/>
            <a:ext cx="3413455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3. EXECUTIVE REPORT AGENT</a:t>
            </a:r>
          </a:p>
          <a:p>
            <a:pPr>
              <a:spcAft>
                <a:spcPts val="200"/>
              </a:spcAft>
              <a:defRPr sz="2200" b="1">
                <a:solidFill>
                  <a:srgbClr val="0F2240"/>
                </a:solidFill>
              </a:defRPr>
            </a:pPr>
            <a:r>
              <a:t>Initial Report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Synthesizes Key Financials &amp; Narrative:</a:t>
            </a:r>
            <a:br/>
            <a:r>
              <a:t>• Revenue: Rs. 980,136 Cr (+7.18%)</a:t>
            </a:r>
            <a:br/>
            <a:r>
              <a:t>• Net Profit: Rs. 80,787 Cr (+2.74%)</a:t>
            </a:r>
            <a:br/>
            <a:r>
              <a:t>• Citations preserved intact</a:t>
            </a:r>
          </a:p>
          <a:p>
            <a:pPr>
              <a:defRPr sz="1000" b="1">
                <a:solidFill>
                  <a:srgbClr val="0F2240"/>
                </a:solidFill>
              </a:defRPr>
            </a:pPr>
            <a:r>
              <a:t>Competitive Benchmarking: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Reliance vs. Infosys (Rs. 162,990 Cr)</a:t>
            </a:r>
            <a:br/>
            <a:r>
              <a:t>  Abs Diff: Rs. 817,146 Cr (-83.37%)</a:t>
            </a:r>
            <a:br/>
            <a:r>
              <a:t>• TCS Comparison: Rs. 255,324 Cr (P. 181)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Project Limitations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5AA0"/>
                </a:solidFill>
              </a:defRPr>
            </a:pPr>
            <a:r>
              <a:t>CURRENT SYSTEM LIMITATIONS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Scoped Financial Metrics:</a:t>
            </a:r>
            <a:r>
              <a:rPr sz="1100">
                <a:solidFill>
                  <a:srgbClr val="1E293B"/>
                </a:solidFill>
              </a:rPr>
              <a:t> Current extraction focuses on core Income Statement figures (Revenue and Net Profit); Balance Sheet items (Total Debt, Cash Flow) require dedicated extractor patterns.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Text-Based PDF Dependency:</a:t>
            </a:r>
            <a:r>
              <a:rPr sz="1100">
                <a:solidFill>
                  <a:srgbClr val="1E293B"/>
                </a:solidFill>
              </a:rPr>
              <a:t> Relies on text layers extracted by PyMuPDF; scanned image-only PDFs without an embedded OCR layer require external pre-processing.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Initial Report Structure:</a:t>
            </a:r>
            <a:r>
              <a:rPr sz="1100">
                <a:solidFill>
                  <a:srgbClr val="1E293B"/>
                </a:solidFill>
              </a:rPr>
              <a:t> Report Agent produces Executive Summaries and Key Financials; long-form segment breakdown and audit note chapters are deferred.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Local Embedding Latency:</a:t>
            </a:r>
            <a:r>
              <a:rPr sz="1100">
                <a:solidFill>
                  <a:srgbClr val="1E293B"/>
                </a:solidFill>
              </a:rPr>
              <a:t> Indexing massive 400+ page annual reports requires ~25-40 seconds on local multi-core CPU.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5AA0"/>
                </a:solidFill>
              </a:defRPr>
            </a:pPr>
            <a:r>
              <a:t>FUTURE ENHANCEMENTS &amp; ROADMAP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Deep Learning Table Extraction:</a:t>
            </a:r>
            <a:r>
              <a:rPr sz="1100">
                <a:solidFill>
                  <a:srgbClr val="1E293B"/>
                </a:solidFill>
              </a:rPr>
              <a:t> Integrate vision-based table transformers (e.g. Table Transformer / LayoutLM) to parse complex bordered/unbordered tables.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Expanded Metric Coverage:</a:t>
            </a:r>
            <a:r>
              <a:rPr sz="1100">
                <a:solidFill>
                  <a:srgbClr val="1E293B"/>
                </a:solidFill>
              </a:rPr>
              <a:t> Broaden automated extraction to include Operating Margins, EBITDA, Earnings Per Share (EPS), and Free Cash Flow.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Automated PDF Export:</a:t>
            </a:r>
            <a:r>
              <a:rPr sz="1100">
                <a:solidFill>
                  <a:srgbClr val="1E293B"/>
                </a:solidFill>
              </a:rPr>
              <a:t> Add a one-click downloadable PDF report generator featuring automated financial charts and trend visualizations.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2240"/>
                </a:solidFill>
              </a:rPr>
              <a:t>• Enterprise Scalability:</a:t>
            </a:r>
            <a:r>
              <a:rPr sz="1100">
                <a:solidFill>
                  <a:srgbClr val="1E293B"/>
                </a:solidFill>
              </a:rPr>
              <a:t> Transition from SQLite to PostgreSQL and deploy ChromaDB as a distributed vector cluster for multi-user concurrency.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5AA0"/>
                </a:solidFill>
              </a:defRPr>
            </a:pPr>
            <a:r>
              <a:t>INFOSYS SPRINGBOARD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88998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920240"/>
            <a:ext cx="8138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E5AA0"/>
                </a:solidFill>
              </a:defRPr>
            </a:pPr>
            <a:r>
              <a:t>KEY TAKEAWAYS &amp; PROJECT IMPACT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2240"/>
                </a:solidFill>
              </a:rPr>
              <a:t>✓ Deterministic Accuracy Over Generative Guesswork:</a:t>
            </a:r>
            <a:r>
              <a:rPr sz="1200">
                <a:solidFill>
                  <a:srgbClr val="1E293B"/>
                </a:solidFill>
              </a:rPr>
              <a:t>  By coupling vector retrieval with exact Python arithmetic, the system delivers zero-hallucination calculations for revenue, profit, and percentage changes.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2240"/>
                </a:solidFill>
              </a:rPr>
              <a:t>✓ Full Source Traceability:</a:t>
            </a:r>
            <a:r>
              <a:rPr sz="1200">
                <a:solidFill>
                  <a:srgbClr val="1E293B"/>
                </a:solidFill>
              </a:rPr>
              <a:t>  Every factual statement links directly to its source PDF page number, chunk ID, and statement type, establishing complete audit confidence.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2240"/>
                </a:solidFill>
              </a:rPr>
              <a:t>✓ Specialized Multi-Agent Synergy:</a:t>
            </a:r>
            <a:r>
              <a:rPr sz="1200">
                <a:solidFill>
                  <a:srgbClr val="1E293B"/>
                </a:solidFill>
              </a:rPr>
              <a:t>  Dividing responsibilities across Document, Extraction, Red Flag, Research, and Comparison agents ensures modularity, maintainability, and clean testing.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2240"/>
                </a:solidFill>
              </a:rPr>
              <a:t>✓ Proven Software Engineering Standards:</a:t>
            </a:r>
            <a:r>
              <a:rPr sz="1200">
                <a:solidFill>
                  <a:srgbClr val="1E293B"/>
                </a:solidFill>
              </a:rPr>
              <a:t>  Validated with 60 comprehensive unit and integration tests, clean REST API endpoints in FastAPI, and an intuitive Streamlit research interface.</a:t>
            </a:r>
          </a:p>
          <a:p>
            <a:pPr algn="ctr">
              <a:defRPr sz="1500" b="1">
                <a:solidFill>
                  <a:srgbClr val="1E5AA0"/>
                </a:solidFill>
              </a:defRPr>
            </a:pPr>
            <a:r>
              <a:t>Thank you! Open for Questions &amp; Viva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